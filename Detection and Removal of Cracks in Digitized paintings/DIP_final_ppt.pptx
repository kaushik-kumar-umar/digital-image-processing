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Canva Sans" charset="1" panose="020B0503030501040103"/>
      <p:regular r:id="rId30"/>
    </p:embeddedFont>
    <p:embeddedFont>
      <p:font typeface="Canva Sans Bold" charset="1" panose="020B0803030501040103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55041" y="138083"/>
            <a:ext cx="1723997" cy="1728600"/>
          </a:xfrm>
          <a:custGeom>
            <a:avLst/>
            <a:gdLst/>
            <a:ahLst/>
            <a:cxnLst/>
            <a:rect r="r" b="b" t="t" l="l"/>
            <a:pathLst>
              <a:path h="1728600" w="1723997">
                <a:moveTo>
                  <a:pt x="0" y="0"/>
                </a:moveTo>
                <a:lnTo>
                  <a:pt x="1723997" y="0"/>
                </a:lnTo>
                <a:lnTo>
                  <a:pt x="1723997" y="1728600"/>
                </a:lnTo>
                <a:lnTo>
                  <a:pt x="0" y="172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00" r="0" b="-18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41172" y="3799401"/>
            <a:ext cx="3792498" cy="5458899"/>
          </a:xfrm>
          <a:custGeom>
            <a:avLst/>
            <a:gdLst/>
            <a:ahLst/>
            <a:cxnLst/>
            <a:rect r="r" b="b" t="t" l="l"/>
            <a:pathLst>
              <a:path h="5458899" w="3792498">
                <a:moveTo>
                  <a:pt x="0" y="0"/>
                </a:moveTo>
                <a:lnTo>
                  <a:pt x="3792499" y="0"/>
                </a:lnTo>
                <a:lnTo>
                  <a:pt x="3792499" y="5458899"/>
                </a:lnTo>
                <a:lnTo>
                  <a:pt x="0" y="54588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596" y="3807117"/>
            <a:ext cx="3788355" cy="5451183"/>
          </a:xfrm>
          <a:custGeom>
            <a:avLst/>
            <a:gdLst/>
            <a:ahLst/>
            <a:cxnLst/>
            <a:rect r="r" b="b" t="t" l="l"/>
            <a:pathLst>
              <a:path h="5451183" w="3788355">
                <a:moveTo>
                  <a:pt x="0" y="0"/>
                </a:moveTo>
                <a:lnTo>
                  <a:pt x="3788355" y="0"/>
                </a:lnTo>
                <a:lnTo>
                  <a:pt x="3788355" y="5451183"/>
                </a:lnTo>
                <a:lnTo>
                  <a:pt x="0" y="54511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91094" y="140752"/>
            <a:ext cx="11250996" cy="172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भारतीय सूचना प्रौद्योगिकी संस्थान नागपुर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Indian Institute of Information Technology Nagpur 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 Institution of National Importance By An Act of Parliament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1909434"/>
            <a:ext cx="1828800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Title: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Hybrid Framework for Craquelure Detection and Virtual Restoration in Digitized Paintings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2540" y="4847078"/>
            <a:ext cx="829710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Presented by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:- Keshav Tak(BT23ECI039)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617040" y="5403973"/>
            <a:ext cx="6365439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Kaushik Kumar(BT23ECI044)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Parth Chaudhary(BT23ECI045)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Shreyas Khare(BT23ECI058)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2540" y="7657204"/>
            <a:ext cx="750617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Presented to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:- Dr. Tapan Kumar Jain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00056" y="2596066"/>
            <a:ext cx="11199231" cy="5818351"/>
          </a:xfrm>
          <a:custGeom>
            <a:avLst/>
            <a:gdLst/>
            <a:ahLst/>
            <a:cxnLst/>
            <a:rect r="r" b="b" t="t" l="l"/>
            <a:pathLst>
              <a:path h="5818351" w="11199231">
                <a:moveTo>
                  <a:pt x="0" y="0"/>
                </a:moveTo>
                <a:lnTo>
                  <a:pt x="11199231" y="0"/>
                </a:lnTo>
                <a:lnTo>
                  <a:pt x="11199231" y="5818351"/>
                </a:lnTo>
                <a:lnTo>
                  <a:pt x="0" y="5818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38697" y="400685"/>
            <a:ext cx="9610606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Why Restoration is Needed?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44083"/>
            <a:ext cx="5771356" cy="718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Old paintings develop cracks due to: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Aging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Drying of paint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Mechanical damage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Cracks reduce beauty and image quality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Manual restoration is expensive and risky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Digital restoration is safe and non-destructive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00056" y="2289829"/>
            <a:ext cx="10459244" cy="6968471"/>
          </a:xfrm>
          <a:custGeom>
            <a:avLst/>
            <a:gdLst/>
            <a:ahLst/>
            <a:cxnLst/>
            <a:rect r="r" b="b" t="t" l="l"/>
            <a:pathLst>
              <a:path h="6968471" w="10459244">
                <a:moveTo>
                  <a:pt x="0" y="0"/>
                </a:moveTo>
                <a:lnTo>
                  <a:pt x="10459244" y="0"/>
                </a:lnTo>
                <a:lnTo>
                  <a:pt x="10459244" y="6968471"/>
                </a:lnTo>
                <a:lnTo>
                  <a:pt x="0" y="69684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96056" y="400685"/>
            <a:ext cx="329588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Obj</a:t>
            </a: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ective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719705"/>
            <a:ext cx="5771356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paper proposes a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complete system having 3 stages: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Crack Detection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Separation of brush strokes from cracks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Crack Filling / Image Restoration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32691" y="1550049"/>
            <a:ext cx="5426609" cy="7708251"/>
          </a:xfrm>
          <a:custGeom>
            <a:avLst/>
            <a:gdLst/>
            <a:ahLst/>
            <a:cxnLst/>
            <a:rect r="r" b="b" t="t" l="l"/>
            <a:pathLst>
              <a:path h="7708251" w="5426609">
                <a:moveTo>
                  <a:pt x="0" y="0"/>
                </a:moveTo>
                <a:lnTo>
                  <a:pt x="5426609" y="0"/>
                </a:lnTo>
                <a:lnTo>
                  <a:pt x="5426609" y="7708251"/>
                </a:lnTo>
                <a:lnTo>
                  <a:pt x="0" y="77082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74776" y="400685"/>
            <a:ext cx="853844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Crack Det</a:t>
            </a: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ection Method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6483" y="1798866"/>
            <a:ext cx="10003614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tage 1: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Crack Detection using Morphological Top-Hat Transform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6483" y="3417481"/>
            <a:ext cx="11107040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Cracks are dark thin lines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They behave like local minima in image intensity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are using Top-Hat Transform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Thresholding is applied after transform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26483" y="6277610"/>
            <a:ext cx="11107040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T(f)=f−(f∘b)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Where: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 = image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 = structuring element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∘ = opening of the original image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55861" y="3791930"/>
            <a:ext cx="3822636" cy="5466370"/>
          </a:xfrm>
          <a:custGeom>
            <a:avLst/>
            <a:gdLst/>
            <a:ahLst/>
            <a:cxnLst/>
            <a:rect r="r" b="b" t="t" l="l"/>
            <a:pathLst>
              <a:path h="5466370" w="3822636">
                <a:moveTo>
                  <a:pt x="0" y="0"/>
                </a:moveTo>
                <a:lnTo>
                  <a:pt x="3822637" y="0"/>
                </a:lnTo>
                <a:lnTo>
                  <a:pt x="3822637" y="5466370"/>
                </a:lnTo>
                <a:lnTo>
                  <a:pt x="0" y="54663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3760899"/>
            <a:ext cx="3855478" cy="5497401"/>
          </a:xfrm>
          <a:custGeom>
            <a:avLst/>
            <a:gdLst/>
            <a:ahLst/>
            <a:cxnLst/>
            <a:rect r="r" b="b" t="t" l="l"/>
            <a:pathLst>
              <a:path h="5497401" w="3855478">
                <a:moveTo>
                  <a:pt x="0" y="0"/>
                </a:moveTo>
                <a:lnTo>
                  <a:pt x="3855478" y="0"/>
                </a:lnTo>
                <a:lnTo>
                  <a:pt x="3855478" y="5497401"/>
                </a:lnTo>
                <a:lnTo>
                  <a:pt x="0" y="54974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57124" y="3791930"/>
            <a:ext cx="3734451" cy="5466370"/>
          </a:xfrm>
          <a:custGeom>
            <a:avLst/>
            <a:gdLst/>
            <a:ahLst/>
            <a:cxnLst/>
            <a:rect r="r" b="b" t="t" l="l"/>
            <a:pathLst>
              <a:path h="5466370" w="3734451">
                <a:moveTo>
                  <a:pt x="0" y="0"/>
                </a:moveTo>
                <a:lnTo>
                  <a:pt x="3734451" y="0"/>
                </a:lnTo>
                <a:lnTo>
                  <a:pt x="3734451" y="5466370"/>
                </a:lnTo>
                <a:lnTo>
                  <a:pt x="0" y="54663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98636" y="400685"/>
            <a:ext cx="1249072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Problem: Brush Strokes Misdet</a:t>
            </a: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ected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6483" y="1798866"/>
            <a:ext cx="10003614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Some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times da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rk brush strokes look similar to cracks.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6483" y="4043546"/>
            <a:ext cx="4130641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Examples: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Hair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Fine pain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ting lines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Borde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 system needs separation.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2815967"/>
            <a:ext cx="8341454" cy="5768856"/>
          </a:xfrm>
          <a:custGeom>
            <a:avLst/>
            <a:gdLst/>
            <a:ahLst/>
            <a:cxnLst/>
            <a:rect r="r" b="b" t="t" l="l"/>
            <a:pathLst>
              <a:path h="5768856" w="8341454">
                <a:moveTo>
                  <a:pt x="0" y="0"/>
                </a:moveTo>
                <a:lnTo>
                  <a:pt x="8341454" y="0"/>
                </a:lnTo>
                <a:lnTo>
                  <a:pt x="8341454" y="5768856"/>
                </a:lnTo>
                <a:lnTo>
                  <a:pt x="0" y="5768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2931" t="-199665" r="-44228" b="-439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39464" y="400685"/>
            <a:ext cx="7809072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Separation T</a:t>
            </a: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echniques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6483" y="2719705"/>
            <a:ext cx="8044728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Semi-Automatic Region Grow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ing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 selects true c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rack seeds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Algorithm grows connected crack regions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26483" y="1798866"/>
            <a:ext cx="413064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Two Me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thod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Used: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6483" y="5506085"/>
            <a:ext cx="9353281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MRBF Neural Network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Uses: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Hue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Saturation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classify: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rack pixels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Brush stroke pixels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69017" y="400685"/>
            <a:ext cx="7349966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Crack Filling M</a:t>
            </a: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ethods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6483" y="2719705"/>
            <a:ext cx="8044728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Order Statistics Filters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Median F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ilter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Weighted M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edian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Trimmed Mean Filter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26483" y="1798866"/>
            <a:ext cx="1037067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After de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tection, mi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ssing pixels are restored using: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6483" y="5506085"/>
            <a:ext cx="7250660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Controlled Anisotropic Diffusion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Orientation Sensitive Anisotropic Diffusion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704326" y="2786380"/>
            <a:ext cx="4496281" cy="6471920"/>
          </a:xfrm>
          <a:custGeom>
            <a:avLst/>
            <a:gdLst/>
            <a:ahLst/>
            <a:cxnLst/>
            <a:rect r="r" b="b" t="t" l="l"/>
            <a:pathLst>
              <a:path h="6471920" w="4496281">
                <a:moveTo>
                  <a:pt x="0" y="0"/>
                </a:moveTo>
                <a:lnTo>
                  <a:pt x="4496282" y="0"/>
                </a:lnTo>
                <a:lnTo>
                  <a:pt x="4496282" y="6471920"/>
                </a:lnTo>
                <a:lnTo>
                  <a:pt x="0" y="6471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92582" y="2795529"/>
            <a:ext cx="4491369" cy="6462771"/>
          </a:xfrm>
          <a:custGeom>
            <a:avLst/>
            <a:gdLst/>
            <a:ahLst/>
            <a:cxnLst/>
            <a:rect r="r" b="b" t="t" l="l"/>
            <a:pathLst>
              <a:path h="6462771" w="4491369">
                <a:moveTo>
                  <a:pt x="0" y="0"/>
                </a:moveTo>
                <a:lnTo>
                  <a:pt x="4491369" y="0"/>
                </a:lnTo>
                <a:lnTo>
                  <a:pt x="4491369" y="6462771"/>
                </a:lnTo>
                <a:lnTo>
                  <a:pt x="0" y="64627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51838" y="2379256"/>
            <a:ext cx="9707462" cy="6776907"/>
          </a:xfrm>
          <a:custGeom>
            <a:avLst/>
            <a:gdLst/>
            <a:ahLst/>
            <a:cxnLst/>
            <a:rect r="r" b="b" t="t" l="l"/>
            <a:pathLst>
              <a:path h="6776907" w="9707462">
                <a:moveTo>
                  <a:pt x="0" y="0"/>
                </a:moveTo>
                <a:lnTo>
                  <a:pt x="9707462" y="0"/>
                </a:lnTo>
                <a:lnTo>
                  <a:pt x="9707462" y="6776907"/>
                </a:lnTo>
                <a:lnTo>
                  <a:pt x="0" y="6776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5977" t="-199665" r="-45588" b="-439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07355" y="400685"/>
            <a:ext cx="7273290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Anisotropic Diffusion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6483" y="2719705"/>
            <a:ext cx="7162984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Smooths crack area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Preserves edges/details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 crack d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irect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Fills only perpendicular to crack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26483" y="1798866"/>
            <a:ext cx="1037067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method: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8737" y="6624320"/>
            <a:ext cx="5758477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∂t/∂I​=∇⋅(c(x,y,</a:t>
            </a:r>
            <a:r>
              <a:rPr lang="en-US" sz="4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t)∇I)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87950" y="400685"/>
            <a:ext cx="2512100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Results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19889" y="3673475"/>
            <a:ext cx="10848223" cy="278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wise results are as follows 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41256" y="0"/>
            <a:ext cx="21362613" cy="10872245"/>
          </a:xfrm>
          <a:custGeom>
            <a:avLst/>
            <a:gdLst/>
            <a:ahLst/>
            <a:cxnLst/>
            <a:rect r="r" b="b" t="t" l="l"/>
            <a:pathLst>
              <a:path h="10872245" w="21362613">
                <a:moveTo>
                  <a:pt x="0" y="0"/>
                </a:moveTo>
                <a:lnTo>
                  <a:pt x="21362613" y="0"/>
                </a:lnTo>
                <a:lnTo>
                  <a:pt x="21362613" y="10872245"/>
                </a:lnTo>
                <a:lnTo>
                  <a:pt x="0" y="108722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47644" y="649932"/>
            <a:ext cx="19901718" cy="10128740"/>
          </a:xfrm>
          <a:custGeom>
            <a:avLst/>
            <a:gdLst/>
            <a:ahLst/>
            <a:cxnLst/>
            <a:rect r="r" b="b" t="t" l="l"/>
            <a:pathLst>
              <a:path h="10128740" w="19901718">
                <a:moveTo>
                  <a:pt x="0" y="0"/>
                </a:moveTo>
                <a:lnTo>
                  <a:pt x="19901718" y="0"/>
                </a:lnTo>
                <a:lnTo>
                  <a:pt x="19901718" y="10128740"/>
                </a:lnTo>
                <a:lnTo>
                  <a:pt x="0" y="10128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14350"/>
            <a:ext cx="18191412" cy="9258300"/>
          </a:xfrm>
          <a:custGeom>
            <a:avLst/>
            <a:gdLst/>
            <a:ahLst/>
            <a:cxnLst/>
            <a:rect r="r" b="b" t="t" l="l"/>
            <a:pathLst>
              <a:path h="9258300" w="18191412">
                <a:moveTo>
                  <a:pt x="0" y="0"/>
                </a:moveTo>
                <a:lnTo>
                  <a:pt x="18191412" y="0"/>
                </a:lnTo>
                <a:lnTo>
                  <a:pt x="18191412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14350"/>
            <a:ext cx="18191412" cy="9258300"/>
          </a:xfrm>
          <a:custGeom>
            <a:avLst/>
            <a:gdLst/>
            <a:ahLst/>
            <a:cxnLst/>
            <a:rect r="r" b="b" t="t" l="l"/>
            <a:pathLst>
              <a:path h="9258300" w="18191412">
                <a:moveTo>
                  <a:pt x="0" y="0"/>
                </a:moveTo>
                <a:lnTo>
                  <a:pt x="18191412" y="0"/>
                </a:lnTo>
                <a:lnTo>
                  <a:pt x="18191412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467" y="563805"/>
            <a:ext cx="17997066" cy="9159390"/>
          </a:xfrm>
          <a:custGeom>
            <a:avLst/>
            <a:gdLst/>
            <a:ahLst/>
            <a:cxnLst/>
            <a:rect r="r" b="b" t="t" l="l"/>
            <a:pathLst>
              <a:path h="9159390" w="17997066">
                <a:moveTo>
                  <a:pt x="0" y="0"/>
                </a:moveTo>
                <a:lnTo>
                  <a:pt x="17997066" y="0"/>
                </a:lnTo>
                <a:lnTo>
                  <a:pt x="17997066" y="9159390"/>
                </a:lnTo>
                <a:lnTo>
                  <a:pt x="0" y="9159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945" y="502976"/>
            <a:ext cx="18236109" cy="9281048"/>
          </a:xfrm>
          <a:custGeom>
            <a:avLst/>
            <a:gdLst/>
            <a:ahLst/>
            <a:cxnLst/>
            <a:rect r="r" b="b" t="t" l="l"/>
            <a:pathLst>
              <a:path h="9281048" w="18236109">
                <a:moveTo>
                  <a:pt x="0" y="0"/>
                </a:moveTo>
                <a:lnTo>
                  <a:pt x="18236110" y="0"/>
                </a:lnTo>
                <a:lnTo>
                  <a:pt x="18236110" y="9281048"/>
                </a:lnTo>
                <a:lnTo>
                  <a:pt x="0" y="9281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3818" y="364931"/>
            <a:ext cx="19495636" cy="9922069"/>
          </a:xfrm>
          <a:custGeom>
            <a:avLst/>
            <a:gdLst/>
            <a:ahLst/>
            <a:cxnLst/>
            <a:rect r="r" b="b" t="t" l="l"/>
            <a:pathLst>
              <a:path h="9922069" w="19495636">
                <a:moveTo>
                  <a:pt x="0" y="0"/>
                </a:moveTo>
                <a:lnTo>
                  <a:pt x="19495636" y="0"/>
                </a:lnTo>
                <a:lnTo>
                  <a:pt x="19495636" y="9922069"/>
                </a:lnTo>
                <a:lnTo>
                  <a:pt x="0" y="9922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78786" y="2230819"/>
            <a:ext cx="8165673" cy="4956761"/>
          </a:xfrm>
          <a:custGeom>
            <a:avLst/>
            <a:gdLst/>
            <a:ahLst/>
            <a:cxnLst/>
            <a:rect r="r" b="b" t="t" l="l"/>
            <a:pathLst>
              <a:path h="4956761" w="8165673">
                <a:moveTo>
                  <a:pt x="0" y="0"/>
                </a:moveTo>
                <a:lnTo>
                  <a:pt x="8165673" y="0"/>
                </a:lnTo>
                <a:lnTo>
                  <a:pt x="8165673" y="4956762"/>
                </a:lnTo>
                <a:lnTo>
                  <a:pt x="0" y="4956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52" r="0" b="-165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385292"/>
            <a:ext cx="10154038" cy="658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morphological Top-Hat + SegFormer transformer for crack detection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Synthetic crack generator (Bézier curves) creates training data — no manual labeling needed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Orientation-sensitive Anisotropic Diffusion for inpainting (50 iterations vs 20)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Fully annotation-free pipeline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11855" y="-114300"/>
            <a:ext cx="15264289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odern Approach (Cuch-Guillén et al., 2026)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3781" y="557360"/>
            <a:ext cx="16154804" cy="7983226"/>
          </a:xfrm>
          <a:custGeom>
            <a:avLst/>
            <a:gdLst/>
            <a:ahLst/>
            <a:cxnLst/>
            <a:rect r="r" b="b" t="t" l="l"/>
            <a:pathLst>
              <a:path h="7983226" w="16154804">
                <a:moveTo>
                  <a:pt x="0" y="0"/>
                </a:moveTo>
                <a:lnTo>
                  <a:pt x="16154804" y="0"/>
                </a:lnTo>
                <a:lnTo>
                  <a:pt x="16154804" y="7983226"/>
                </a:lnTo>
                <a:lnTo>
                  <a:pt x="0" y="7983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" t="-186" r="-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71228" y="8254836"/>
            <a:ext cx="499991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Fig. Bézie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 crack generation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4532152" y="5143500"/>
          <a:ext cx="8296062" cy="3924300"/>
        </p:xfrm>
        <a:graphic>
          <a:graphicData uri="http://schemas.openxmlformats.org/drawingml/2006/table">
            <a:tbl>
              <a:tblPr/>
              <a:tblGrid>
                <a:gridCol w="3422279"/>
                <a:gridCol w="2436892"/>
                <a:gridCol w="2436892"/>
              </a:tblGrid>
              <a:tr h="17120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PSNR (dB)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SSIM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61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Classlical 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30.87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0.9045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61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Modern 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30.95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0.9061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863284" y="-114300"/>
            <a:ext cx="8226504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odern Method Results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971550"/>
            <a:ext cx="12463133" cy="379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9551" indent="-294776" lvl="1">
              <a:lnSpc>
                <a:spcPts val="3822"/>
              </a:lnSpc>
              <a:spcBef>
                <a:spcPct val="0"/>
              </a:spcBef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Same t</a:t>
            </a:r>
            <a:r>
              <a:rPr lang="en-US" sz="27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op-hat detection as classical baseline</a:t>
            </a:r>
          </a:p>
          <a:p>
            <a:pPr algn="just">
              <a:lnSpc>
                <a:spcPts val="3822"/>
              </a:lnSpc>
              <a:spcBef>
                <a:spcPct val="0"/>
              </a:spcBef>
            </a:pPr>
          </a:p>
          <a:p>
            <a:pPr algn="just" marL="589551" indent="-294776" lvl="1">
              <a:lnSpc>
                <a:spcPts val="3822"/>
              </a:lnSpc>
              <a:spcBef>
                <a:spcPct val="0"/>
              </a:spcBef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Orientation-sensitive AD: 50 iterations, K=80 (vs classical K=127)</a:t>
            </a:r>
          </a:p>
          <a:p>
            <a:pPr algn="just">
              <a:lnSpc>
                <a:spcPts val="3822"/>
              </a:lnSpc>
              <a:spcBef>
                <a:spcPct val="0"/>
              </a:spcBef>
            </a:pPr>
          </a:p>
          <a:p>
            <a:pPr algn="just" marL="589551" indent="-294776" lvl="1">
              <a:lnSpc>
                <a:spcPts val="3822"/>
              </a:lnSpc>
              <a:spcBef>
                <a:spcPct val="0"/>
              </a:spcBef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Consistent improvement across all 4 test paintings</a:t>
            </a:r>
          </a:p>
          <a:p>
            <a:pPr algn="just">
              <a:lnSpc>
                <a:spcPts val="3822"/>
              </a:lnSpc>
              <a:spcBef>
                <a:spcPct val="0"/>
              </a:spcBef>
            </a:pPr>
          </a:p>
          <a:p>
            <a:pPr algn="just" marL="589551" indent="-294776" lvl="1">
              <a:lnSpc>
                <a:spcPts val="3822"/>
              </a:lnSpc>
              <a:spcBef>
                <a:spcPct val="0"/>
              </a:spcBef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Average SSIM improvement: +0.0025 over classical AD</a:t>
            </a:r>
          </a:p>
          <a:p>
            <a:pPr algn="just">
              <a:lnSpc>
                <a:spcPts val="382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574" y="0"/>
            <a:ext cx="16561726" cy="9258300"/>
          </a:xfrm>
          <a:custGeom>
            <a:avLst/>
            <a:gdLst/>
            <a:ahLst/>
            <a:cxnLst/>
            <a:rect r="r" b="b" t="t" l="l"/>
            <a:pathLst>
              <a:path h="9258300" w="16561726">
                <a:moveTo>
                  <a:pt x="0" y="0"/>
                </a:moveTo>
                <a:lnTo>
                  <a:pt x="16561726" y="0"/>
                </a:lnTo>
                <a:lnTo>
                  <a:pt x="16561726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947" r="-5171" b="-234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7574" y="9454783"/>
            <a:ext cx="1656172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Fig. Comparison Result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215311" y="-114300"/>
            <a:ext cx="18288000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ovel Method: Exemplar-Based Patch Inpainting (EBPI)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1772285"/>
            <a:ext cx="16724026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Prop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osed method: finds best-matching texture patch from non-crack region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Unlike AD (smooths locally), EBPI copies real texture from similar regions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Limitation: PSNR measured vs cracked original — no ground truth available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EBPI shows visually sharper fills but lower PSNR due to metric limitation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70809" y="6868713"/>
            <a:ext cx="17546382" cy="1062678"/>
          </a:xfrm>
          <a:custGeom>
            <a:avLst/>
            <a:gdLst/>
            <a:ahLst/>
            <a:cxnLst/>
            <a:rect r="r" b="b" t="t" l="l"/>
            <a:pathLst>
              <a:path h="1062678" w="17546382">
                <a:moveTo>
                  <a:pt x="0" y="0"/>
                </a:moveTo>
                <a:lnTo>
                  <a:pt x="17546382" y="0"/>
                </a:lnTo>
                <a:lnTo>
                  <a:pt x="17546382" y="1062678"/>
                </a:lnTo>
                <a:lnTo>
                  <a:pt x="0" y="1062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72" t="-3212" r="-8787" b="-24458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0" y="1838325"/>
          <a:ext cx="9937927" cy="7419975"/>
        </p:xfrm>
        <a:graphic>
          <a:graphicData uri="http://schemas.openxmlformats.org/drawingml/2006/table">
            <a:tbl>
              <a:tblPr/>
              <a:tblGrid>
                <a:gridCol w="2572898"/>
                <a:gridCol w="2572898"/>
                <a:gridCol w="2243020"/>
                <a:gridCol w="2549111"/>
              </a:tblGrid>
              <a:tr h="17042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Key 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PSNR (dB)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SSIM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042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Local Diffusion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Classical AD (2006)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30.87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0.9045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042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Orientation Aware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Modern AD (2026)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30.95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0.90611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73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Texture patch copy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Novel  EBPI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30.29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0.8979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930658" y="-114300"/>
            <a:ext cx="14426685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omparison: Classical vs Modern vs Novel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770462" y="2076993"/>
            <a:ext cx="8255884" cy="7181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3282" indent="-366641" lvl="1">
              <a:lnSpc>
                <a:spcPts val="4754"/>
              </a:lnSpc>
              <a:spcBef>
                <a:spcPct val="0"/>
              </a:spcBef>
              <a:buFont typeface="Arial"/>
              <a:buChar char="•"/>
            </a:pPr>
            <a:r>
              <a:rPr lang="en-US" sz="33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33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odern AD consistently outperforms Classical across all 4 paintings.</a:t>
            </a:r>
          </a:p>
          <a:p>
            <a:pPr algn="just">
              <a:lnSpc>
                <a:spcPts val="4754"/>
              </a:lnSpc>
              <a:spcBef>
                <a:spcPct val="0"/>
              </a:spcBef>
            </a:pPr>
          </a:p>
          <a:p>
            <a:pPr algn="just" marL="733282" indent="-366641" lvl="1">
              <a:lnSpc>
                <a:spcPts val="4754"/>
              </a:lnSpc>
              <a:spcBef>
                <a:spcPct val="0"/>
              </a:spcBef>
              <a:buFont typeface="Arial"/>
              <a:buChar char="•"/>
            </a:pPr>
            <a:r>
              <a:rPr lang="en-US" sz="33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EBPI trades PSNR for perceptual texture consistency.</a:t>
            </a:r>
          </a:p>
          <a:p>
            <a:pPr algn="just">
              <a:lnSpc>
                <a:spcPts val="4754"/>
              </a:lnSpc>
              <a:spcBef>
                <a:spcPct val="0"/>
              </a:spcBef>
            </a:pPr>
          </a:p>
          <a:p>
            <a:pPr algn="just" marL="733282" indent="-366641" lvl="1">
              <a:lnSpc>
                <a:spcPts val="4754"/>
              </a:lnSpc>
              <a:spcBef>
                <a:spcPct val="0"/>
              </a:spcBef>
              <a:buFont typeface="Arial"/>
              <a:buChar char="•"/>
            </a:pPr>
            <a:r>
              <a:rPr lang="en-US" sz="33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All methods use same crack mask  comparison is purely inpainting quality.</a:t>
            </a:r>
          </a:p>
          <a:p>
            <a:pPr algn="just">
              <a:lnSpc>
                <a:spcPts val="4754"/>
              </a:lnSpc>
              <a:spcBef>
                <a:spcPct val="0"/>
              </a:spcBef>
            </a:pPr>
          </a:p>
          <a:p>
            <a:pPr algn="just">
              <a:lnSpc>
                <a:spcPts val="475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1369" y="0"/>
            <a:ext cx="17246861" cy="9011485"/>
          </a:xfrm>
          <a:custGeom>
            <a:avLst/>
            <a:gdLst/>
            <a:ahLst/>
            <a:cxnLst/>
            <a:rect r="r" b="b" t="t" l="l"/>
            <a:pathLst>
              <a:path h="9011485" w="17246861">
                <a:moveTo>
                  <a:pt x="0" y="0"/>
                </a:moveTo>
                <a:lnTo>
                  <a:pt x="17246861" y="0"/>
                </a:lnTo>
                <a:lnTo>
                  <a:pt x="17246861" y="9011485"/>
                </a:lnTo>
                <a:lnTo>
                  <a:pt x="0" y="90114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69158" y="9413416"/>
            <a:ext cx="794968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Fig. Threeway Comparison of methods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96873" y="1150500"/>
            <a:ext cx="8831839" cy="75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45"/>
              </a:lnSpc>
            </a:pPr>
            <a:r>
              <a:rPr lang="en-US" sz="2174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</a:t>
            </a:r>
          </a:p>
          <a:p>
            <a:pPr algn="ctr">
              <a:lnSpc>
                <a:spcPts val="30445"/>
              </a:lnSpc>
            </a:pPr>
            <a:r>
              <a:rPr lang="en-US" sz="2174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DAHHjpSS5bg</dc:identifier>
  <dcterms:modified xsi:type="dcterms:W3CDTF">2011-08-01T06:04:30Z</dcterms:modified>
  <cp:revision>1</cp:revision>
  <dc:title>Title: Digital Image Processing Techniques for Detection and Removal of Cracks in Digitized Paintings</dc:title>
</cp:coreProperties>
</file>